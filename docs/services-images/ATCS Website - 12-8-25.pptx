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379" r:id="rId2"/>
    <p:sldId id="380" r:id="rId3"/>
    <p:sldId id="381" r:id="rId4"/>
    <p:sldId id="382" r:id="rId5"/>
    <p:sldId id="38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hil joseph" initials="aj" lastIdx="1" clrIdx="0">
    <p:extLst>
      <p:ext uri="{19B8F6BF-5375-455C-9EA6-DF929625EA0E}">
        <p15:presenceInfo xmlns:p15="http://schemas.microsoft.com/office/powerpoint/2012/main" userId="c9f32541bb513c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F2A264"/>
    <a:srgbClr val="DE955E"/>
    <a:srgbClr val="CC8E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3B0CC-5EE7-4192-B988-C950A87C77EE}" v="2" dt="2025-07-31T06:51:38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38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54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4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4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9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9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5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9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3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19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6142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13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3132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97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12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0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B30F348-245C-439F-89F7-4E6E1E2E9152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C6B25AE-FE0C-40D5-809D-BF9EF1E7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92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442352-EDAD-C2C3-0DD8-E57D0E3F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641"/>
            <a:ext cx="2628124" cy="70788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4000" b="1" spc="50" dirty="0">
                <a:ln w="0"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  <a:latin typeface="Eras Bold ITC" panose="020B0907030504020204" pitchFamily="34" charset="0"/>
              </a:rPr>
              <a:t>Services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9013F90-D26D-86BC-41AF-3A40F0CE3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261" y="1459717"/>
            <a:ext cx="9448857" cy="3204542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solidFill>
            <a:schemeClr val="tx1"/>
          </a:solidFill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>
              <a:buSzPct val="100000"/>
            </a:pPr>
            <a:r>
              <a:rPr lang="en-GB" b="1" dirty="0">
                <a:solidFill>
                  <a:srgbClr val="002060"/>
                </a:solidFill>
              </a:rPr>
              <a:t>Corrosion control services</a:t>
            </a:r>
            <a:endParaRPr lang="en-GB" b="1" dirty="0"/>
          </a:p>
          <a:p>
            <a:pPr>
              <a:buSzPct val="100000"/>
            </a:pPr>
            <a:r>
              <a:rPr lang="en-GB" dirty="0"/>
              <a:t>  Aries Corrosion Control &amp; Management services is molded out by a group of </a:t>
            </a:r>
          </a:p>
          <a:p>
            <a:pPr>
              <a:buSzPct val="100000"/>
            </a:pPr>
            <a:r>
              <a:rPr lang="en-GB" dirty="0"/>
              <a:t>corrosion experts to deliver prompt solutions for extending the life of structural </a:t>
            </a:r>
          </a:p>
          <a:p>
            <a:pPr>
              <a:buSzPct val="100000"/>
            </a:pPr>
            <a:r>
              <a:rPr lang="en-GB" dirty="0"/>
              <a:t>elements, metal/non-metal, doctored by proper analysis and treatment.</a:t>
            </a:r>
          </a:p>
          <a:p>
            <a:pPr>
              <a:buSzPct val="100000"/>
            </a:pPr>
            <a:r>
              <a:rPr lang="en-GB" dirty="0"/>
              <a:t>Offshore/Marine structures are built irrespective of the atmospheric conditions </a:t>
            </a:r>
          </a:p>
          <a:p>
            <a:pPr>
              <a:buSzPct val="100000"/>
            </a:pPr>
            <a:r>
              <a:rPr lang="en-GB" dirty="0"/>
              <a:t>to which they are exposed. Hence, proper coating procedure is crucial for any </a:t>
            </a:r>
          </a:p>
          <a:p>
            <a:pPr>
              <a:buSzPct val="100000"/>
            </a:pPr>
            <a:r>
              <a:rPr lang="en-GB" dirty="0"/>
              <a:t>offshore/marine structure for preserving and maintaining it as good as new. </a:t>
            </a:r>
          </a:p>
          <a:p>
            <a:pPr>
              <a:buSzPct val="100000"/>
            </a:pPr>
            <a:r>
              <a:rPr lang="en-GB" dirty="0"/>
              <a:t>This relies on procedures which include proper surface treatment techniques, </a:t>
            </a:r>
          </a:p>
          <a:p>
            <a:pPr>
              <a:buSzPct val="100000"/>
            </a:pPr>
            <a:r>
              <a:rPr lang="en-GB" dirty="0"/>
              <a:t>required coating materials and methods of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9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442352-EDAD-C2C3-0DD8-E57D0E3F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641"/>
            <a:ext cx="2628124" cy="70788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4000" b="1" spc="50" dirty="0">
                <a:ln w="0"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  <a:latin typeface="Eras Bold ITC" panose="020B0907030504020204" pitchFamily="34" charset="0"/>
              </a:rPr>
              <a:t>Services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CC6592-D170-8842-FB5A-9928920B870E}"/>
              </a:ext>
            </a:extLst>
          </p:cNvPr>
          <p:cNvCxnSpPr/>
          <p:nvPr/>
        </p:nvCxnSpPr>
        <p:spPr>
          <a:xfrm>
            <a:off x="2081797" y="2395470"/>
            <a:ext cx="2768836" cy="1498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AutoShape 9">
            <a:extLst>
              <a:ext uri="{FF2B5EF4-FFF2-40B4-BE49-F238E27FC236}">
                <a16:creationId xmlns:a16="http://schemas.microsoft.com/office/drawing/2014/main" id="{4BEADB59-826A-A08D-1D66-225F66437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633" y="1730667"/>
            <a:ext cx="6856263" cy="2459522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Ballast Tanks Maintenance Program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Deck Maintenance Program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Accommodation Maintenance Program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Pipeline Cleaning Program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HVAC/Insulation and Cladding 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Cargo Hold Maintenance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Cleaning Jobs Ballast tank Mud cleaning</a:t>
            </a:r>
          </a:p>
        </p:txBody>
      </p:sp>
      <p:sp>
        <p:nvSpPr>
          <p:cNvPr id="3" name="AutoShape 9">
            <a:extLst>
              <a:ext uri="{FF2B5EF4-FFF2-40B4-BE49-F238E27FC236}">
                <a16:creationId xmlns:a16="http://schemas.microsoft.com/office/drawing/2014/main" id="{ADAE0D2D-0DF4-C0CA-3E49-E648624A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8893"/>
            <a:ext cx="4521724" cy="1903069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solidFill>
            <a:srgbClr val="F2A264"/>
          </a:solidFill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Riding Squad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Hydro Jetting Services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Abrasive blasting and painting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Helideck Maintenance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8" y="4220386"/>
            <a:ext cx="3417604" cy="233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442352-EDAD-C2C3-0DD8-E57D0E3F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641"/>
            <a:ext cx="2628124" cy="70788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4000" b="1" spc="50" dirty="0">
                <a:ln w="0"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  <a:latin typeface="Eras Bold ITC" panose="020B0907030504020204" pitchFamily="34" charset="0"/>
              </a:rPr>
              <a:t>Services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CC6592-D170-8842-FB5A-9928920B870E}"/>
              </a:ext>
            </a:extLst>
          </p:cNvPr>
          <p:cNvCxnSpPr/>
          <p:nvPr/>
        </p:nvCxnSpPr>
        <p:spPr>
          <a:xfrm>
            <a:off x="2987898" y="2537138"/>
            <a:ext cx="186273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AutoShape 9">
            <a:extLst>
              <a:ext uri="{FF2B5EF4-FFF2-40B4-BE49-F238E27FC236}">
                <a16:creationId xmlns:a16="http://schemas.microsoft.com/office/drawing/2014/main" id="{4BEADB59-826A-A08D-1D66-225F66437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633" y="1622738"/>
            <a:ext cx="7341367" cy="3863662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Surface preparation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Exchanger &amp; condenser tubes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Internal and external coatings removal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Drill pipe cleaning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Lancing of Pipelines and Grey Water Lines at Offshore Rig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Drain Line Cleaning at Shipyards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Internal Cleaning of Tube Line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Industrial blasting &amp; Coatings-Drilling handling tools,                     </a:t>
            </a:r>
          </a:p>
          <a:p>
            <a:pPr>
              <a:buSzPct val="100000"/>
            </a:pPr>
            <a:r>
              <a:rPr lang="en-GB" dirty="0"/>
              <a:t>    Containers, Pipelines, Racks, skids, Bolts, Flanges, </a:t>
            </a:r>
          </a:p>
          <a:p>
            <a:pPr>
              <a:buSzPct val="100000"/>
            </a:pPr>
            <a:r>
              <a:rPr lang="en-GB" dirty="0"/>
              <a:t>    Pressure vessels etc.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Pipeline internal blasting and coating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Silo tank cleaning &amp; refurbishment</a:t>
            </a:r>
          </a:p>
        </p:txBody>
      </p:sp>
      <p:sp>
        <p:nvSpPr>
          <p:cNvPr id="3" name="AutoShape 9">
            <a:extLst>
              <a:ext uri="{FF2B5EF4-FFF2-40B4-BE49-F238E27FC236}">
                <a16:creationId xmlns:a16="http://schemas.microsoft.com/office/drawing/2014/main" id="{ADAE0D2D-0DF4-C0CA-3E49-E648624A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4255"/>
            <a:ext cx="4500880" cy="3204542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solidFill>
            <a:srgbClr val="F2A264"/>
          </a:solidFill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Riding Squad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Hydro Jetting Services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Abrasive blasting and painting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Helideck Maintenance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793" y="4925068"/>
            <a:ext cx="3132210" cy="163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4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442352-EDAD-C2C3-0DD8-E57D0E3F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641"/>
            <a:ext cx="2628124" cy="70788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4000" b="1" spc="50" dirty="0">
                <a:ln w="0"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  <a:latin typeface="Eras Bold ITC" panose="020B0907030504020204" pitchFamily="34" charset="0"/>
              </a:rPr>
              <a:t>Services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CC6592-D170-8842-FB5A-9928920B870E}"/>
              </a:ext>
            </a:extLst>
          </p:cNvPr>
          <p:cNvCxnSpPr/>
          <p:nvPr/>
        </p:nvCxnSpPr>
        <p:spPr>
          <a:xfrm>
            <a:off x="3966693" y="2910625"/>
            <a:ext cx="883940" cy="1287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AutoShape 9">
            <a:extLst>
              <a:ext uri="{FF2B5EF4-FFF2-40B4-BE49-F238E27FC236}">
                <a16:creationId xmlns:a16="http://schemas.microsoft.com/office/drawing/2014/main" id="{4BEADB59-826A-A08D-1D66-225F66437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633" y="1659662"/>
            <a:ext cx="7341367" cy="2601532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Industrial blasting &amp; Coatings-Drilling handling tools,                     </a:t>
            </a:r>
          </a:p>
          <a:p>
            <a:pPr>
              <a:buSzPct val="100000"/>
            </a:pPr>
            <a:r>
              <a:rPr lang="en-GB" dirty="0"/>
              <a:t>    Containers, Pipelines, Racks, skids, Bolts, Flanges, </a:t>
            </a:r>
          </a:p>
          <a:p>
            <a:pPr>
              <a:buSzPct val="100000"/>
            </a:pPr>
            <a:r>
              <a:rPr lang="en-GB" dirty="0"/>
              <a:t>    Pressure vessels etc.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Pipeline internal blasting and coating</a:t>
            </a:r>
          </a:p>
          <a:p>
            <a:pPr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Silo tank cleaning &amp; refurbishment</a:t>
            </a:r>
          </a:p>
        </p:txBody>
      </p:sp>
      <p:sp>
        <p:nvSpPr>
          <p:cNvPr id="3" name="AutoShape 9">
            <a:extLst>
              <a:ext uri="{FF2B5EF4-FFF2-40B4-BE49-F238E27FC236}">
                <a16:creationId xmlns:a16="http://schemas.microsoft.com/office/drawing/2014/main" id="{ADAE0D2D-0DF4-C0CA-3E49-E648624A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8354"/>
            <a:ext cx="4500880" cy="3204542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solidFill>
            <a:srgbClr val="F2A264"/>
          </a:solidFill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Riding Squad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Hydro Jetting Services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Abrasive blasting and painting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Helideck Maintenance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243" y="4561348"/>
            <a:ext cx="4091393" cy="209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5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442352-EDAD-C2C3-0DD8-E57D0E3F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641"/>
            <a:ext cx="2628124" cy="70788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4000" b="1" spc="50" dirty="0">
                <a:ln w="0"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  <a:latin typeface="Eras Bold ITC" panose="020B0907030504020204" pitchFamily="34" charset="0"/>
              </a:rPr>
              <a:t>Services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CC6592-D170-8842-FB5A-9928920B870E}"/>
              </a:ext>
            </a:extLst>
          </p:cNvPr>
          <p:cNvCxnSpPr/>
          <p:nvPr/>
        </p:nvCxnSpPr>
        <p:spPr>
          <a:xfrm flipV="1">
            <a:off x="3270869" y="3287637"/>
            <a:ext cx="1502126" cy="2575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AutoShape 9">
            <a:extLst>
              <a:ext uri="{FF2B5EF4-FFF2-40B4-BE49-F238E27FC236}">
                <a16:creationId xmlns:a16="http://schemas.microsoft.com/office/drawing/2014/main" id="{4BEADB59-826A-A08D-1D66-225F66437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633" y="2178394"/>
            <a:ext cx="6950303" cy="2474457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>
              <a:buSzPct val="100000"/>
            </a:pPr>
            <a:r>
              <a:rPr lang="en-GB" dirty="0"/>
              <a:t>Aries has well-experienced offshore and onshore teams to           </a:t>
            </a:r>
          </a:p>
          <a:p>
            <a:pPr>
              <a:buSzPct val="100000"/>
            </a:pPr>
            <a:r>
              <a:rPr lang="en-GB" dirty="0"/>
              <a:t>perform coating maintenance on different types of helidecks including Aluminium to comply with CAP 437 regulations.</a:t>
            </a:r>
          </a:p>
        </p:txBody>
      </p:sp>
      <p:sp>
        <p:nvSpPr>
          <p:cNvPr id="3" name="AutoShape 9">
            <a:extLst>
              <a:ext uri="{FF2B5EF4-FFF2-40B4-BE49-F238E27FC236}">
                <a16:creationId xmlns:a16="http://schemas.microsoft.com/office/drawing/2014/main" id="{ADAE0D2D-0DF4-C0CA-3E49-E648624A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7" y="1448309"/>
            <a:ext cx="4500880" cy="3204542"/>
          </a:xfrm>
          <a:custGeom>
            <a:avLst/>
            <a:gdLst>
              <a:gd name="T0" fmla="*/ 0 w 3108960"/>
              <a:gd name="T1" fmla="*/ 279406 h 1920874"/>
              <a:gd name="T2" fmla="*/ 754964 w 3108960"/>
              <a:gd name="T3" fmla="*/ 0 h 1920874"/>
              <a:gd name="T4" fmla="*/ 6576286 w 3108960"/>
              <a:gd name="T5" fmla="*/ 0 h 1920874"/>
              <a:gd name="T6" fmla="*/ 7331241 w 3108960"/>
              <a:gd name="T7" fmla="*/ 279406 h 1920874"/>
              <a:gd name="T8" fmla="*/ 7331241 w 3108960"/>
              <a:gd name="T9" fmla="*/ 1397029 h 1920874"/>
              <a:gd name="T10" fmla="*/ 6576286 w 3108960"/>
              <a:gd name="T11" fmla="*/ 1676435 h 1920874"/>
              <a:gd name="T12" fmla="*/ 754964 w 3108960"/>
              <a:gd name="T13" fmla="*/ 1676435 h 1920874"/>
              <a:gd name="T14" fmla="*/ 0 w 3108960"/>
              <a:gd name="T15" fmla="*/ 1397029 h 1920874"/>
              <a:gd name="T16" fmla="*/ 0 w 3108960"/>
              <a:gd name="T17" fmla="*/ 279406 h 19208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08960"/>
              <a:gd name="T28" fmla="*/ 0 h 1920874"/>
              <a:gd name="T29" fmla="*/ 3108960 w 3108960"/>
              <a:gd name="T30" fmla="*/ 1920874 h 19208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08960" h="1920874">
                <a:moveTo>
                  <a:pt x="0" y="320152"/>
                </a:moveTo>
                <a:cubicBezTo>
                  <a:pt x="0" y="143337"/>
                  <a:pt x="143337" y="0"/>
                  <a:pt x="320152" y="0"/>
                </a:cubicBezTo>
                <a:lnTo>
                  <a:pt x="2788808" y="0"/>
                </a:lnTo>
                <a:cubicBezTo>
                  <a:pt x="2965623" y="0"/>
                  <a:pt x="3108960" y="143337"/>
                  <a:pt x="3108960" y="320152"/>
                </a:cubicBezTo>
                <a:lnTo>
                  <a:pt x="3108960" y="1600722"/>
                </a:lnTo>
                <a:cubicBezTo>
                  <a:pt x="3108960" y="1777537"/>
                  <a:pt x="2965623" y="1920874"/>
                  <a:pt x="2788808" y="1920874"/>
                </a:cubicBezTo>
                <a:lnTo>
                  <a:pt x="320152" y="1920874"/>
                </a:lnTo>
                <a:cubicBezTo>
                  <a:pt x="143337" y="1920874"/>
                  <a:pt x="0" y="1777537"/>
                  <a:pt x="0" y="1600722"/>
                </a:cubicBezTo>
                <a:lnTo>
                  <a:pt x="0" y="320152"/>
                </a:lnTo>
                <a:close/>
              </a:path>
            </a:pathLst>
          </a:custGeom>
          <a:solidFill>
            <a:srgbClr val="F2A264"/>
          </a:solidFill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230760" tIns="162360" rIns="230760" bIns="16236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Riding Squad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Hydro Jetting Services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Abrasive blasting and painting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Helideck Maintenance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24" y="4801957"/>
            <a:ext cx="521970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theme/theme1.xml><?xml version="1.0" encoding="utf-8"?>
<a:theme xmlns:a="http://schemas.openxmlformats.org/drawingml/2006/main" name="Slic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4173</TotalTime>
  <Words>306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Century Gothic</vt:lpstr>
      <vt:lpstr>Eras Bold ITC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akhil joseph</dc:creator>
  <cp:lastModifiedBy>Vsagar S</cp:lastModifiedBy>
  <cp:revision>128</cp:revision>
  <dcterms:created xsi:type="dcterms:W3CDTF">2023-12-18T11:50:27Z</dcterms:created>
  <dcterms:modified xsi:type="dcterms:W3CDTF">2025-08-10T13:53:22Z</dcterms:modified>
</cp:coreProperties>
</file>